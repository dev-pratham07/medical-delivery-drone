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0152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  <a:latin typeface="Outfit"/>
              </a:defRPr>
            </a:pPr>
            <a:r>
              <a:t>CONVERTIBLE MEDICAL DELIVERY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563EB"/>
                </a:solidFill>
                <a:latin typeface="Inter"/>
              </a:defRPr>
            </a:pPr>
            <a:r>
              <a:t>Applied Electromechanics Course Project: Design &amp; Avionics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Fira Code"/>
              </a:defRPr>
            </a:pPr>
            <a:r>
              <a:t>Flight Platform: Arduino UNO  |  Stabilizer: MPU6050 IMU  |  Radio Link: FS-CT6B 6CH</a:t>
            </a:r>
          </a:p>
        </p:txBody>
      </p:sp>
      <p:pic>
        <p:nvPicPr>
          <p:cNvPr id="6" name="Picture 5" descr="med_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749039"/>
            <a:ext cx="22860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02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Dual Locomotion: Flying &amp; Rolling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400">
                <a:solidFill>
                  <a:srgbClr val="2563EB"/>
                </a:solidFill>
                <a:latin typeface="Outfit"/>
              </a:rPr>
              <a:t>•  The Hybrid Concept: </a:t>
            </a:r>
            <a:r>
              <a:rPr sz="1300">
                <a:solidFill>
                  <a:srgbClr val="1E293B"/>
                </a:solidFill>
                <a:latin typeface="Inter"/>
              </a:rPr>
              <a:t>A medical delivery vehicle designed to travel on flat roads (rolling mode) to conserve battery, and take off (flying mode) to clear terrain obstructions.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2563EB"/>
                </a:solidFill>
                <a:latin typeface="Outfit"/>
              </a:rPr>
              <a:t>•  Mercedes Propellers: </a:t>
            </a:r>
            <a:r>
              <a:rPr sz="1300">
                <a:solidFill>
                  <a:srgbClr val="1E293B"/>
                </a:solidFill>
                <a:latin typeface="Inter"/>
              </a:rPr>
              <a:t>Custom 3D-printed propellers enclosed in rigid outer rings that serve as flight blades and ground rolling wheels.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2563EB"/>
                </a:solidFill>
                <a:latin typeface="Outfit"/>
              </a:rPr>
              <a:t>•  Servo Actuation: </a:t>
            </a:r>
            <a:r>
              <a:rPr sz="1300">
                <a:solidFill>
                  <a:srgbClr val="1E293B"/>
                </a:solidFill>
                <a:latin typeface="Inter"/>
              </a:rPr>
              <a:t>Two high-torque MG9966 servos actuate left and right motor blocks, rotating the assemblies 90 degrees between positions.</a:t>
            </a:r>
          </a:p>
          <a:p>
            <a:pPr>
              <a:spcAft>
                <a:spcPts val="1600"/>
              </a:spcAft>
            </a:pPr>
            <a:r>
              <a:rPr b="1" sz="1400">
                <a:solidFill>
                  <a:srgbClr val="2563EB"/>
                </a:solidFill>
                <a:latin typeface="Outfit"/>
              </a:rPr>
              <a:t>•  Tilt Lock System: </a:t>
            </a:r>
            <a:r>
              <a:rPr sz="1300">
                <a:solidFill>
                  <a:srgbClr val="1E293B"/>
                </a:solidFill>
                <a:latin typeface="Inter"/>
              </a:rPr>
              <a:t>Mechanical locking mechanisms at the limits (0° and 90°) relieve weight load from the servo motors once the transition completes.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400"/>
              </a:spcAft>
              <a:defRPr sz="1500" b="1">
                <a:solidFill>
                  <a:srgbClr val="1E293B"/>
                </a:solidFill>
                <a:latin typeface="Outfit"/>
              </a:defRPr>
            </a:pPr>
            <a:br/>
            <a:r>
              <a:t>MODE SWITCH PIPELINE</a:t>
            </a:r>
          </a:p>
          <a:p>
            <a:pPr algn="ctr">
              <a:spcAft>
                <a:spcPts val="1400"/>
              </a:spcAft>
              <a:defRPr sz="1100" b="1">
                <a:solidFill>
                  <a:srgbClr val="2563EB"/>
                </a:solidFill>
                <a:latin typeface="Fira Code"/>
              </a:defRPr>
            </a:pPr>
            <a:r>
              <a:t>1. FLIGHT MODE (Propellers Facing Up)</a:t>
            </a:r>
          </a:p>
          <a:p>
            <a:pPr algn="ctr">
              <a:spcAft>
                <a:spcPts val="600"/>
              </a:spcAft>
              <a:defRPr sz="1000">
                <a:solidFill>
                  <a:srgbClr val="64748B"/>
                </a:solidFill>
                <a:latin typeface="Inter"/>
              </a:defRPr>
            </a:pPr>
            <a:r>
              <a:t>▼</a:t>
            </a:r>
          </a:p>
          <a:p>
            <a:pPr algn="ctr">
              <a:spcAft>
                <a:spcPts val="1400"/>
              </a:spcAft>
              <a:defRPr sz="1100" b="1">
                <a:solidFill>
                  <a:srgbClr val="F59E0B"/>
                </a:solidFill>
                <a:latin typeface="Fira Code"/>
              </a:defRPr>
            </a:pPr>
            <a:r>
              <a:t>2. TRANSITION (Servos Actuated 90°)</a:t>
            </a:r>
          </a:p>
          <a:p>
            <a:pPr algn="ctr">
              <a:spcAft>
                <a:spcPts val="600"/>
              </a:spcAft>
              <a:defRPr sz="1000">
                <a:solidFill>
                  <a:srgbClr val="64748B"/>
                </a:solidFill>
                <a:latin typeface="Inter"/>
              </a:defRPr>
            </a:pPr>
            <a:r>
              <a:t>▼</a:t>
            </a:r>
          </a:p>
          <a:p>
            <a:pPr algn="ctr">
              <a:spcAft>
                <a:spcPts val="1400"/>
              </a:spcAft>
              <a:defRPr sz="1100" b="1">
                <a:solidFill>
                  <a:srgbClr val="10B981"/>
                </a:solidFill>
                <a:latin typeface="Fira Code"/>
              </a:defRPr>
            </a:pPr>
            <a:r>
              <a:t>3. ROLLING MODE (Propellers Facing Sideways)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03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Components &amp; Pin Mappings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Processing Core: </a:t>
            </a:r>
            <a:r>
              <a:rPr sz="1200">
                <a:solidFill>
                  <a:srgbClr val="1E293B"/>
                </a:solidFill>
                <a:latin typeface="Inter"/>
              </a:rPr>
              <a:t>Arduino UNO acts as the central brain, running the MVP state machine, receiving inputs, and coordinating ESCs and servos.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Telemetry Link: </a:t>
            </a:r>
            <a:r>
              <a:rPr sz="1200">
                <a:solidFill>
                  <a:srgbClr val="1E293B"/>
                </a:solidFill>
                <a:latin typeface="Inter"/>
              </a:rPr>
              <a:t>FS-CT6B 6-channel receiver captures joystick pulses for manual navigation control.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Actuation System: </a:t>
            </a:r>
            <a:r>
              <a:rPr sz="1200">
                <a:solidFill>
                  <a:srgbClr val="1E293B"/>
                </a:solidFill>
                <a:latin typeface="Inter"/>
              </a:rPr>
              <a:t>Four 1000kv BLDC motors drive propellers, two MG9966 servos actuate transitions, and four limit switches monitor lock status.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Power &amp; Telemetry: </a:t>
            </a:r>
            <a:r>
              <a:rPr sz="1200">
                <a:solidFill>
                  <a:srgbClr val="1E293B"/>
                </a:solidFill>
                <a:latin typeface="Inter"/>
              </a:rPr>
              <a:t>A 3S LiPo battery powers the ESC bus; a BEC steps down to 5V to run the Arduino, and a piezo buzzer sounds system telemetry alarms.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64592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ARDUINO PIN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CONNECTED PART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D3, D5, D6, D9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Propulsion ESCs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PWM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D10, D11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Left &amp; Right Servos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Servo PWM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D2, D4, D7, D8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FS-CT6B Rx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Pulse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A0 to 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Arm Limit Switches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Input Pullup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A4 / D12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Voltage divider / Buzzer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Analog / Digital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04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MPU6050 &amp; PID Stabilization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Vibration Isolation: </a:t>
            </a:r>
            <a:r>
              <a:rPr sz="1200">
                <a:solidFill>
                  <a:srgbClr val="1E293B"/>
                </a:solidFill>
                <a:latin typeface="Inter"/>
              </a:rPr>
              <a:t>The MPU6050 is mounted on sponge pads to dampen structural motor noise. Low-pass software filters are applied to isolate actual drone tilt.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Triple Axis PID Loops: </a:t>
            </a:r>
            <a:r>
              <a:rPr sz="1200">
                <a:solidFill>
                  <a:srgbClr val="1E293B"/>
                </a:solidFill>
                <a:latin typeface="Inter"/>
              </a:rPr>
              <a:t>Attitude correction values are calculated at 250Hz for the Roll, Pitch, and Yaw axes based on pilot joystick references.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Proportional &amp; Integral Actions: </a:t>
            </a:r>
            <a:r>
              <a:rPr sz="1200">
                <a:solidFill>
                  <a:srgbClr val="1E293B"/>
                </a:solidFill>
                <a:latin typeface="Inter"/>
              </a:rPr>
              <a:t>P (Proportional) provides primary corrective torque. I (Integral) eliminates steady-state tilt offset errors.</a:t>
            </a:r>
          </a:p>
          <a:p>
            <a:pPr>
              <a:spcAft>
                <a:spcPts val="1400"/>
              </a:spcAft>
            </a:pPr>
            <a:r>
              <a:rPr b="1" sz="1350">
                <a:solidFill>
                  <a:srgbClr val="2563EB"/>
                </a:solidFill>
                <a:latin typeface="Outfit"/>
              </a:rPr>
              <a:t>•  Derivative Damping Action: </a:t>
            </a:r>
            <a:r>
              <a:rPr sz="1200">
                <a:solidFill>
                  <a:srgbClr val="1E293B"/>
                </a:solidFill>
                <a:latin typeface="Inter"/>
              </a:rPr>
              <a:t>D (Derivative) tracks the rate of change of errors, dampening overshoot and stabilizing flight dynamics.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1400" b="1">
                <a:solidFill>
                  <a:srgbClr val="1E293B"/>
                </a:solidFill>
                <a:latin typeface="Outfit"/>
              </a:defRPr>
            </a:pPr>
            <a:r>
              <a:t>PID MATHEMATICS &amp; PSEUDOCODE</a:t>
            </a:r>
          </a:p>
          <a:p>
            <a:pPr>
              <a:defRPr sz="950">
                <a:solidFill>
                  <a:srgbClr val="64748B"/>
                </a:solidFill>
                <a:latin typeface="Fira Code"/>
              </a:defRPr>
            </a:pPr>
            <a:r>
              <a:t>// Math Equation:</a:t>
            </a:r>
          </a:p>
          <a:p>
            <a:pPr>
              <a:defRPr sz="950">
                <a:solidFill>
                  <a:srgbClr val="2563EB"/>
                </a:solidFill>
                <a:latin typeface="Fira Code"/>
              </a:defRPr>
            </a:pPr>
            <a:r>
              <a:t>Correction = Kp*e(t) + Ki*∫e(t)dt + Kd*de/dt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</a:p>
          <a:p>
            <a:pPr>
              <a:defRPr sz="950">
                <a:solidFill>
                  <a:srgbClr val="64748B"/>
                </a:solidFill>
                <a:latin typeface="Fira Code"/>
              </a:defRPr>
            </a:pPr>
            <a:r>
              <a:t>// Firmware Loop Execution (250Hz):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  <a:r>
              <a:t>error = target_angle - current_angle;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  <a:r>
              <a:t>error_integral += error * dt;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</a:p>
          <a:p>
            <a:pPr>
              <a:defRPr sz="950">
                <a:solidFill>
                  <a:srgbClr val="64748B"/>
                </a:solidFill>
                <a:latin typeface="Fira Code"/>
              </a:defRPr>
            </a:pPr>
            <a:r>
              <a:t>// Prevent integral windup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  <a:r>
              <a:t>error_integral = constrain(error_integral, -I_MAX, I_MAX);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  <a:r>
              <a:t>error_derivative = (error - prev_error) / dt;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  <a:r>
              <a:t>prev_error = error;</a:t>
            </a:r>
          </a:p>
          <a:p>
            <a:pPr>
              <a:defRPr sz="950">
                <a:solidFill>
                  <a:srgbClr val="1E293B"/>
                </a:solidFill>
                <a:latin typeface="Fira Code"/>
              </a:defRPr>
            </a:pPr>
          </a:p>
          <a:p>
            <a:pPr>
              <a:defRPr sz="950">
                <a:solidFill>
                  <a:srgbClr val="2563EB"/>
                </a:solidFill>
                <a:latin typeface="Fira Code"/>
              </a:defRPr>
            </a:pPr>
            <a:r>
              <a:t>pid_output = Kp*error + Ki*error_integral + Kd*error_derivative;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05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FS-CT6B Transmitter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Reliable Communication: </a:t>
            </a:r>
            <a:r>
              <a:rPr sz="1200">
                <a:solidFill>
                  <a:srgbClr val="1E293B"/>
                </a:solidFill>
                <a:latin typeface="Inter"/>
              </a:rPr>
              <a:t>Operates on 2.4 GHz AFHDS (Automatic Frequency Hopping Digital System) protocol to prevent signals from overlapping with neighboring devices.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Hardware Interrupt Capture: </a:t>
            </a:r>
            <a:r>
              <a:rPr sz="1200">
                <a:solidFill>
                  <a:srgbClr val="1E293B"/>
                </a:solidFill>
                <a:latin typeface="Inter"/>
              </a:rPr>
              <a:t>Arduino captures receiver pulse widths using pin state change interrupts. This avoids the blocking pulseIn function, saving CPU processing cycles.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Failsafe Lockout Loop: </a:t>
            </a:r>
            <a:r>
              <a:rPr sz="1200">
                <a:solidFill>
                  <a:srgbClr val="1E293B"/>
                </a:solidFill>
                <a:latin typeface="Inter"/>
              </a:rPr>
              <a:t>The firmware constantly checks pulse intervals. If connection is lost, it immediately disarms all ESC outputs to 1000 us (minimum spin/lock).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Dual Mode Selector Switch: </a:t>
            </a:r>
            <a:r>
              <a:rPr sz="1200">
                <a:solidFill>
                  <a:srgbClr val="1E293B"/>
                </a:solidFill>
                <a:latin typeface="Inter"/>
              </a:rPr>
              <a:t>Channels 5 and 6 act as binary switches for switching between flight and rolling modes, and as emergency safety disarms.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201168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16459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MAPPED FUNCTION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563EB"/>
                          </a:solidFill>
                          <a:latin typeface="Outfit"/>
                        </a:defRPr>
                      </a:pPr>
                      <a:r>
                        <a:t>PULSE WIDTH (us)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CH 1 / CH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Roll &amp; Pitch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1000 to 2000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Throttle (propulsion power)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1000 to 2000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CH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Yaw Control (steering)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1000 to 2000 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CH 5 / CH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Mode switch / Disarm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Inter"/>
                        </a:defRPr>
                      </a:pPr>
                      <a:r>
                        <a:t>Boolean High/Low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06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Mechanical Transition &amp; Safety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Servo Output Pins D10/D11: </a:t>
            </a:r>
            <a:r>
              <a:rPr sz="1200">
                <a:solidFill>
                  <a:srgbClr val="1E293B"/>
                </a:solidFill>
                <a:latin typeface="Inter"/>
              </a:rPr>
              <a:t>High-torque MG9966 servos act on command signals to rotate the adjacent side arms (FL-BL and FR-BR) between flight and ground rolling postures.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Verification Switches A0-A3: </a:t>
            </a:r>
            <a:r>
              <a:rPr sz="1200">
                <a:solidFill>
                  <a:srgbClr val="1E293B"/>
                </a:solidFill>
                <a:latin typeface="Inter"/>
              </a:rPr>
              <a:t>Hardware microswitches confirm mechanical locking at 0 deg (flight) and 90 deg (rolling). Transition states are verified before motor re-arming.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Throttle Safety Interlock: </a:t>
            </a:r>
            <a:r>
              <a:rPr sz="1200">
                <a:solidFill>
                  <a:srgbClr val="1E293B"/>
                </a:solidFill>
                <a:latin typeface="Inter"/>
              </a:rPr>
              <a:t>The firmware blocks servo transit commands unless the throttle channel pulse measures completely at zero (1000 us).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Arming Stabilization Check: </a:t>
            </a:r>
            <a:r>
              <a:rPr sz="1200">
                <a:solidFill>
                  <a:srgbClr val="1E293B"/>
                </a:solidFill>
                <a:latin typeface="Inter"/>
              </a:rPr>
              <a:t>IMU accelerometers must read a stable, leveled horizontal posture (+/- 5 degrees) before transition triggers are accepted.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Outfit"/>
              </a:defRPr>
            </a:pPr>
            <a:r>
              <a:t>TRANSITION SAFETY CHECKLIST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1. Check throttle == 0 </a:t>
            </a:r>
            <a:r>
              <a:rPr b="1" sz="1150">
                <a:solidFill>
                  <a:srgbClr val="10B981"/>
                </a:solidFill>
                <a:latin typeface="Fira Code"/>
              </a:rPr>
              <a:t>[PASSED]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2. Check motors disarmed </a:t>
            </a:r>
            <a:r>
              <a:rPr b="1" sz="1150">
                <a:solidFill>
                  <a:srgbClr val="10B981"/>
                </a:solidFill>
                <a:latin typeface="Fira Code"/>
              </a:rPr>
              <a:t>[PASSED]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3. Trigger MG9966 Servo move </a:t>
            </a:r>
            <a:r>
              <a:rPr b="1" sz="1150">
                <a:solidFill>
                  <a:srgbClr val="F59E0B"/>
                </a:solidFill>
                <a:latin typeface="Fira Code"/>
              </a:rPr>
              <a:t>[ACTIVE]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4. Read Limit SW A0/A2 (0°) </a:t>
            </a:r>
            <a:r>
              <a:rPr b="1" sz="1150">
                <a:solidFill>
                  <a:srgbClr val="64748B"/>
                </a:solidFill>
                <a:latin typeface="Fira Code"/>
              </a:rPr>
              <a:t>[RELEASED]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5. Read Limit SW A1/A3 (90°) </a:t>
            </a:r>
            <a:r>
              <a:rPr b="1" sz="1150">
                <a:solidFill>
                  <a:srgbClr val="F59E0B"/>
                </a:solidFill>
                <a:latin typeface="Fira Code"/>
              </a:rPr>
              <a:t>[ENGAGING...]</a:t>
            </a:r>
          </a:p>
          <a:p>
            <a:pPr>
              <a:spcAft>
                <a:spcPts val="1200"/>
              </a:spcAft>
            </a:pPr>
            <a:r>
              <a:rPr sz="1100">
                <a:solidFill>
                  <a:srgbClr val="1E293B"/>
                </a:solidFill>
                <a:latin typeface="Fira Code"/>
              </a:rPr>
              <a:t>6. Confirm lock &amp; re-arm </a:t>
            </a:r>
            <a:r>
              <a:rPr b="1" sz="1150">
                <a:solidFill>
                  <a:srgbClr val="64748B"/>
                </a:solidFill>
                <a:latin typeface="Fira Code"/>
              </a:rPr>
              <a:t>[WAITING]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07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Rolling Speed Control &amp;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Propeller Wheel Load: </a:t>
            </a:r>
            <a:r>
              <a:rPr sz="1200">
                <a:solidFill>
                  <a:srgbClr val="1E293B"/>
                </a:solidFill>
                <a:latin typeface="Inter"/>
              </a:rPr>
              <a:t>Propellers encounter high static resistance when rolling on wheels. Low voltage can stall motors. The firmware uses PWM speed control instead of voltage reductions.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Anti-Stall Pulse Ranges: </a:t>
            </a:r>
            <a:r>
              <a:rPr sz="1200">
                <a:solidFill>
                  <a:srgbClr val="1E293B"/>
                </a:solidFill>
                <a:latin typeface="Inter"/>
              </a:rPr>
              <a:t>Drive commands are restricted to a range between 1100 us and 1300 us to prevent ESC stalling and maintain control.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Differential Tank Steering: </a:t>
            </a:r>
            <a:r>
              <a:rPr sz="1200">
                <a:solidFill>
                  <a:srgbClr val="1E293B"/>
                </a:solidFill>
                <a:latin typeface="Inter"/>
              </a:rPr>
              <a:t>Steering is managed using a tank drive model. Changing the speed ratio between left and right motor wheels causes a differential torque turn.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Stutter Prevention: </a:t>
            </a:r>
            <a:r>
              <a:rPr sz="1200">
                <a:solidFill>
                  <a:srgbClr val="1E293B"/>
                </a:solidFill>
                <a:latin typeface="Inter"/>
              </a:rPr>
              <a:t>A minimum spin speed threshold (1100 us) is written into the firmware to overcome wheel friction during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1400" b="1">
                <a:solidFill>
                  <a:srgbClr val="1E293B"/>
                </a:solidFill>
                <a:latin typeface="Outfit"/>
              </a:defRPr>
            </a:pPr>
            <a:r>
              <a:t>DIFFERENTIAL DRIVE CALCULATIONS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  <a:latin typeface="Fira Code"/>
              </a:rPr>
              <a:t>FORWARD ROLL
</a:t>
            </a:r>
            <a:r>
              <a:rPr sz="1000">
                <a:solidFill>
                  <a:srgbClr val="1E293B"/>
                </a:solidFill>
                <a:latin typeface="Fira Code"/>
              </a:rPr>
              <a:t>  └ Left: 1200 us  |  Right: 1200 us
</a:t>
            </a:r>
            <a:r>
              <a:rPr sz="950">
                <a:solidFill>
                  <a:srgbClr val="64748B"/>
                </a:solidFill>
                <a:latin typeface="Inter"/>
              </a:rPr>
              <a:t>    (Standard straight ground roll)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  <a:latin typeface="Fira Code"/>
              </a:rPr>
              <a:t>STEER RIGHT
</a:t>
            </a:r>
            <a:r>
              <a:rPr sz="1000">
                <a:solidFill>
                  <a:srgbClr val="1E293B"/>
                </a:solidFill>
                <a:latin typeface="Fira Code"/>
              </a:rPr>
              <a:t>  └ Left: 1250 us  |  Right: 1100 us
</a:t>
            </a:r>
            <a:r>
              <a:rPr sz="950">
                <a:solidFill>
                  <a:srgbClr val="64748B"/>
                </a:solidFill>
                <a:latin typeface="Inter"/>
              </a:rPr>
              <a:t>    (Left motors push, right motor slows)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  <a:latin typeface="Fira Code"/>
              </a:rPr>
              <a:t>STEER LEFT
</a:t>
            </a:r>
            <a:r>
              <a:rPr sz="1000">
                <a:solidFill>
                  <a:srgbClr val="1E293B"/>
                </a:solidFill>
                <a:latin typeface="Fira Code"/>
              </a:rPr>
              <a:t>  └ Left: 1100 us  |  Right: 1250 us
</a:t>
            </a:r>
            <a:r>
              <a:rPr sz="950">
                <a:solidFill>
                  <a:srgbClr val="64748B"/>
                </a:solidFill>
                <a:latin typeface="Inter"/>
              </a:rPr>
              <a:t>    (Right motors push, left motor slows)</a:t>
            </a:r>
          </a:p>
          <a:p>
            <a:pPr>
              <a:spcAft>
                <a:spcPts val="1200"/>
              </a:spcAft>
            </a:pPr>
            <a:r>
              <a:rPr b="1" sz="1100">
                <a:solidFill>
                  <a:srgbClr val="2563EB"/>
                </a:solidFill>
                <a:latin typeface="Fira Code"/>
              </a:rPr>
              <a:t>STATIC BOUND
</a:t>
            </a:r>
            <a:r>
              <a:rPr sz="1000">
                <a:solidFill>
                  <a:srgbClr val="1E293B"/>
                </a:solidFill>
                <a:latin typeface="Fira Code"/>
              </a:rPr>
              <a:t>  └ Command limits: 1100 us to 1300 us
</a:t>
            </a:r>
            <a:r>
              <a:rPr sz="950">
                <a:solidFill>
                  <a:srgbClr val="64748B"/>
                </a:solidFill>
                <a:latin typeface="Inter"/>
              </a:rPr>
              <a:t>    (Anti-stall threshold boundaries)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08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Power Bus &amp; Telemetry Alarms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3S LiPo Battery Source: </a:t>
            </a:r>
            <a:r>
              <a:rPr sz="1150">
                <a:solidFill>
                  <a:srgbClr val="1E293B"/>
                </a:solidFill>
                <a:latin typeface="Inter"/>
              </a:rPr>
              <a:t>An 11.1V nominal Lithium Polymer battery (2200mAh capacity) powers the high-load propulsion motors and ESCs.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5V BEC Voltage Regulator: </a:t>
            </a:r>
            <a:r>
              <a:rPr sz="1150">
                <a:solidFill>
                  <a:srgbClr val="1E293B"/>
                </a:solidFill>
                <a:latin typeface="Inter"/>
              </a:rPr>
              <a:t>Steps down raw voltage to 5V to run the Arduino and MPU6050, shielding logic circuits from motor back-EMF noise.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Voltage Telemetry Monitor: </a:t>
            </a:r>
            <a:r>
              <a:rPr sz="1150">
                <a:solidFill>
                  <a:srgbClr val="1E293B"/>
                </a:solidFill>
                <a:latin typeface="Inter"/>
              </a:rPr>
              <a:t>A resistor voltage divider feeds scaled battery levels to analog pin A4, triggering low-voltage safety warnings.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Piezo Buzzer Status Alarms: </a:t>
            </a:r>
            <a:r>
              <a:rPr sz="1150">
                <a:solidFill>
                  <a:srgbClr val="1E293B"/>
                </a:solidFill>
                <a:latin typeface="Inter"/>
              </a:rPr>
              <a:t>Active warnings are emitted on pin D12 for startup status (1 beep), low battery (slow pulsing), and RX signal loss failsafes (rapid pulsing).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400"/>
              </a:spcAft>
              <a:defRPr sz="1400" b="1">
                <a:solidFill>
                  <a:srgbClr val="1E293B"/>
                </a:solidFill>
                <a:latin typeface="Outfit"/>
              </a:defRPr>
            </a:pPr>
            <a:r>
              <a:t>POWER DISTRIBUTION TOPOLOGY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2563EB"/>
                </a:solidFill>
                <a:latin typeface="Fira Code"/>
              </a:rPr>
              <a:t>3S LiPo Battery (11.1V)
</a:t>
            </a:r>
            <a:r>
              <a:rPr sz="1050">
                <a:solidFill>
                  <a:srgbClr val="64748B"/>
                </a:solidFill>
                <a:latin typeface="Inter"/>
              </a:rPr>
              <a:t>      Raw power source for flight system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E293B"/>
                </a:solidFill>
                <a:latin typeface="Fira Code"/>
              </a:rPr>
              <a:t>  ├── ESCs &amp; BLDC Motors
</a:t>
            </a:r>
            <a:r>
              <a:rPr sz="1050">
                <a:solidFill>
                  <a:srgbClr val="64748B"/>
                </a:solidFill>
                <a:latin typeface="Inter"/>
              </a:rPr>
              <a:t>      High current draw propulsion circuit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E293B"/>
                </a:solidFill>
                <a:latin typeface="Fira Code"/>
              </a:rPr>
              <a:t>  └── 5V BEC Regulator
</a:t>
            </a:r>
            <a:r>
              <a:rPr sz="1050">
                <a:solidFill>
                  <a:srgbClr val="64748B"/>
                </a:solidFill>
                <a:latin typeface="Inter"/>
              </a:rPr>
              <a:t>      Regulates voltage for control logic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0B981"/>
                </a:solidFill>
                <a:latin typeface="Fira Code"/>
              </a:rPr>
              <a:t>        ├── Arduino UNO Core
</a:t>
            </a:r>
            <a:r>
              <a:rPr sz="1050">
                <a:solidFill>
                  <a:srgbClr val="64748B"/>
                </a:solidFill>
                <a:latin typeface="Inter"/>
              </a:rPr>
              <a:t>      Processes state inputs and calculations</a:t>
            </a:r>
          </a:p>
          <a:p>
            <a:pPr>
              <a:spcAft>
                <a:spcPts val="1400"/>
              </a:spcAft>
            </a:pPr>
            <a:r>
              <a:rPr b="1" sz="1150">
                <a:solidFill>
                  <a:srgbClr val="10B981"/>
                </a:solidFill>
                <a:latin typeface="Fira Code"/>
              </a:rPr>
              <a:t>        └── MPU6050 &amp; Servos
</a:t>
            </a:r>
            <a:r>
              <a:rPr sz="1050">
                <a:solidFill>
                  <a:srgbClr val="64748B"/>
                </a:solidFill>
                <a:latin typeface="Inter"/>
              </a:rPr>
              <a:t>      Senses orientation and drives joints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Fira Code"/>
              </a:defRPr>
            </a:pPr>
            <a:r>
              <a:t>// CONVERTIBLE DRONE AVIONICS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  <a:latin typeface="Fira Code"/>
              </a:defRPr>
            </a:pPr>
            <a:r>
              <a:t>09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Outfit"/>
              </a:defRPr>
            </a:pPr>
            <a:r>
              <a:t>Project Status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MVP State Machine Active: </a:t>
            </a:r>
            <a:r>
              <a:rPr sz="1150">
                <a:solidFill>
                  <a:srgbClr val="1E293B"/>
                </a:solidFill>
                <a:latin typeface="Inter"/>
              </a:rPr>
              <a:t>Control loop modes (IDLE, TRANSITIONING, FLYING, ROLLING, FAILSAFE) are implemented and active in firmware.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Safety Interlocks Validated: </a:t>
            </a:r>
            <a:r>
              <a:rPr sz="1150">
                <a:solidFill>
                  <a:srgbClr val="1E293B"/>
                </a:solidFill>
                <a:latin typeface="Inter"/>
              </a:rPr>
              <a:t>Limit switches (A0-A3) prevent transitions unless throttle is at zero, motors are disarmed, and orientation is stable.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Next Step: Interrupt Capture: </a:t>
            </a:r>
            <a:r>
              <a:rPr sz="1150">
                <a:solidFill>
                  <a:srgbClr val="1E293B"/>
                </a:solidFill>
                <a:latin typeface="Inter"/>
              </a:rPr>
              <a:t>Transitioning receiver pulse reads to hardware interrupt capture registers to reduce main CPU execution latency.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563EB"/>
                </a:solidFill>
                <a:latin typeface="Outfit"/>
              </a:rPr>
              <a:t>•  Next Step: PID Flight Tuning: </a:t>
            </a:r>
            <a:r>
              <a:rPr sz="1150">
                <a:solidFill>
                  <a:srgbClr val="1E293B"/>
                </a:solidFill>
                <a:latin typeface="Inter"/>
              </a:rPr>
              <a:t>Calibrating MPU6050 sensor values to tune PID flight coefficients on roll and pitch axes.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11480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000">
                <a:solidFill>
                  <a:srgbClr val="10B981"/>
                </a:solidFill>
                <a:latin typeface="Inter"/>
              </a:defRPr>
            </a:pPr>
            <a:br/>
            <a:br/>
            <a:r>
              <a:t>✔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1E293B"/>
                </a:solidFill>
                <a:latin typeface="Outfit"/>
              </a:defRPr>
            </a:pPr>
            <a:r>
              <a:t>AVIONICS MODEL DEPLOYED</a:t>
            </a:r>
          </a:p>
          <a:p>
            <a:pPr algn="ctr">
              <a:spcBef>
                <a:spcPts val="1000"/>
              </a:spcBef>
              <a:defRPr sz="1100">
                <a:solidFill>
                  <a:srgbClr val="64748B"/>
                </a:solidFill>
                <a:latin typeface="Inter"/>
              </a:defRPr>
            </a:pPr>
            <a:r>
              <a:t>The integrated system of Arduino UNO execution, MPU6050 feedback, and limit-switch safety transitions completes the core hardware design checklist.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